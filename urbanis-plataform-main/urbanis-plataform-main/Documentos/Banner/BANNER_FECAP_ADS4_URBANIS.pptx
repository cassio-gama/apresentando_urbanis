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9" d="100"/>
          <a:sy n="39" d="100"/>
        </p:scale>
        <p:origin x="1302" y="124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PROJETO URBANIS</a:t>
            </a:r>
            <a:endParaRPr lang="en-US"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927175" y="6355587"/>
            <a:ext cx="26889453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Cassio Gama, Luiz Eduardo, Henrique Jorge, Renan Damprelli, Pedro Augusto Macedo 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lang="pt-BR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Aimar Martins Lopes</a:t>
            </a:r>
            <a:endParaRPr lang="pt-BR"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336211" y="19796052"/>
            <a:ext cx="12433206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Gráfico</a:t>
            </a: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01: </a:t>
            </a:r>
            <a:r>
              <a:rPr lang="pt-BR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Distribuição Territorial Multicamada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484945" y="28924345"/>
            <a:ext cx="12433206" cy="1066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43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pt-BR" sz="343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Urbanis</a:t>
            </a:r>
            <a:r>
              <a:rPr lang="pt-BR" sz="343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Elaboração a partir de dados públicos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1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IBGE. Censo Demográfico 2022.</a:t>
            </a: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IPVS. Índice Paulista de Vulnerabilidade Social.</a:t>
            </a: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SSP-SP. Estatísticas Criminais do Estado de São Paulo.</a:t>
            </a:r>
          </a:p>
          <a:p>
            <a:pPr lvl="0" algn="just">
              <a:lnSpc>
                <a:spcPct val="140000"/>
              </a:lnSpc>
            </a:pP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GeoSampa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. Base de Dados Geoespaciais do Município de São Paulo.</a:t>
            </a:r>
          </a:p>
          <a:p>
            <a:pPr lvl="0" algn="just">
              <a:lnSpc>
                <a:spcPct val="140000"/>
              </a:lnSpc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Metrô de São Paulo. Fluxo de Passageiros e Infraestrutura Metroferroviária.</a:t>
            </a:r>
            <a:endParaRPr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591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27496" marR="0" lvl="1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 panose="020B0604020202020204" pitchFamily="34" charset="0"/>
              <a:buChar char="•"/>
            </a:pPr>
            <a:r>
              <a:rPr lang="en-US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Python</a:t>
            </a:r>
          </a:p>
          <a:p>
            <a:pPr marL="827496" marR="0" lvl="1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 panose="020B0604020202020204" pitchFamily="34" charset="0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React</a:t>
            </a:r>
          </a:p>
          <a:p>
            <a:pPr marL="827496" marR="0" lvl="1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 panose="020B0604020202020204" pitchFamily="34" charset="0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TailwindCSS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Streamlit</a:t>
            </a:r>
            <a:endParaRPr dirty="0"/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Pandas</a:t>
            </a: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Ploty</a:t>
            </a: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 err="1">
                <a:latin typeface="Open Sans"/>
                <a:ea typeface="Open Sans"/>
                <a:cs typeface="Open Sans"/>
                <a:sym typeface="Open Sans"/>
              </a:rPr>
              <a:t>GeoJSON</a:t>
            </a:r>
            <a:endParaRPr lang="en-US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740593" marR="0" lvl="1" indent="-370297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Char char="•"/>
            </a:pPr>
            <a:r>
              <a:rPr lang="en-US" sz="3430" dirty="0">
                <a:latin typeface="Open Sans"/>
                <a:ea typeface="Open Sans"/>
                <a:cs typeface="Open Sans"/>
                <a:sym typeface="Open Sans"/>
              </a:rPr>
              <a:t>Shapely</a:t>
            </a: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81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análise territorial ainda representa um desafio para empresas e gestores públicos. Embora existam bases relevantes produzidas por instituições como IBGE, SEADE, SSP-SP, os dados permanecem dispersos, técnicos e de difícil interpretação integrada.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consequência, decisões relacionadas à expansão comercial, planejamento urbano e análise regional frequentemente são realizadas sem apoio analítico estruturado, dificultando comparações entre diferentes territórios e reduzindo o aproveitamento estratégico</a:t>
            </a:r>
            <a:endParaRPr lang="en-US"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Urbanis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propõe uma plataforma de inteligência territorial baseada no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UrbanScore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um modelo analítico multicritério capaz de integrar indicadores urbanos, demográficos, econômicos e de mobilidade em uma métrica comparável entre distritos da cidade de São Paulo.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3430" dirty="0"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sistema combina variáveis como densidade demográfica, fluxo metroferroviário, centralidade econômica, criminalidade e vulnerabilidade social. 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ermitindo análises segmentadas conforme diferentes perfis de negócio. O objetivo é transformar dados públicos em suporte analítico para tomada de decisão territorial e estudos de expansão urbana.</a:t>
            </a: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/>
          </a:p>
        </p:txBody>
      </p:sp>
      <p:sp>
        <p:nvSpPr>
          <p:cNvPr id="139" name="Google Shape;139;p1"/>
          <p:cNvSpPr txBox="1"/>
          <p:nvPr/>
        </p:nvSpPr>
        <p:spPr>
          <a:xfrm>
            <a:off x="15617816" y="10880630"/>
            <a:ext cx="11904157" cy="886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aplicação do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UrbanScore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evidenciou diferenças relevantes entre os distritos analisados, demonstrando impactos distintos de mobilidade, densidade urbana, centralidade econômica e fatores de risco sobre o potencial territorial. O modelo permitiu estruturar comparações urbanas mais abrangentes do que análises isoladas de densidade populacional, possibilitando interpretações segmentadas conforme o perfil do negócio analisado. Os resultados possuem caráter exploratório e representam uma etapa inicial de validação do modelo analítico e da proposta de inteligência territorial da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Urbanis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52005F-C934-4F38-5733-6E1A4D281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7418DE-CCD8-9636-BB45-EA954D5DC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25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8C367D-0827-07A3-FB46-E0833DF3DB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17815" y="20520644"/>
            <a:ext cx="11993386" cy="8693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359</Words>
  <Application>Microsoft Office PowerPoint</Application>
  <PresentationFormat>Personalizar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Calibri</vt:lpstr>
      <vt:lpstr>Inter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Renan Silva12345 24026623</cp:lastModifiedBy>
  <cp:revision>3</cp:revision>
  <dcterms:created xsi:type="dcterms:W3CDTF">2006-08-16T00:00:00Z</dcterms:created>
  <dcterms:modified xsi:type="dcterms:W3CDTF">2026-05-19T13:52:45Z</dcterms:modified>
</cp:coreProperties>
</file>